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841"/>
          </a:solidFill>
          <a:ln/>
        </p:spPr>
      </p:sp>
      <p:pic>
        <p:nvPicPr>
          <p:cNvPr id="3" name="Image 0" descr="/home/claude/pptx_task/assets/sieme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49040" y="2331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VELOCITY: AURORA EXPRESS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749040" y="274320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Wheel Assembly Layout Proposal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749040" y="39776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bottleneck delay in the Aurora Express wheel-mounting cell through a targeted layout change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74904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Manufacturing Operations Committee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State: Original Layout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assembly stations run in sequence, each near 62 minutes per unit. All stations share one overhead crane.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900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3406140"/>
            <a:ext cx="201168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41448" y="28803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6F1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29900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41448" y="34107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61:15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33088" y="3406140"/>
            <a:ext cx="201168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34256" y="28803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6F1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4256" y="29900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34256" y="34107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62:35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25896" y="3406140"/>
            <a:ext cx="201168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27064" y="28803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6F1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29900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34107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61:46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18704" y="3406140"/>
            <a:ext cx="201168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9872" y="28803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E6F1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9872" y="29900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19872" y="34107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62:10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11512" y="3406140"/>
            <a:ext cx="201168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12680" y="288036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12680" y="29900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Press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41448" y="1965960"/>
            <a:ext cx="5477256" cy="548640"/>
          </a:xfrm>
          <a:prstGeom prst="roundRect">
            <a:avLst>
              <a:gd name="adj" fmla="val 10000"/>
            </a:avLst>
          </a:prstGeom>
          <a:solidFill>
            <a:srgbClr val="FAEEDA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1965960"/>
            <a:ext cx="5477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crane services all four assembly stations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78608" y="2514600"/>
            <a:ext cx="0" cy="365760"/>
          </a:xfrm>
          <a:prstGeom prst="line">
            <a:avLst/>
          </a:prstGeom>
          <a:noFill/>
          <a:ln w="15875">
            <a:solidFill>
              <a:srgbClr val="EF9F27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312920" y="2514600"/>
            <a:ext cx="0" cy="365760"/>
          </a:xfrm>
          <a:prstGeom prst="line">
            <a:avLst/>
          </a:prstGeom>
          <a:noFill/>
          <a:ln w="15875">
            <a:solidFill>
              <a:srgbClr val="EF9F27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047232" y="2514600"/>
            <a:ext cx="0" cy="365760"/>
          </a:xfrm>
          <a:prstGeom prst="line">
            <a:avLst/>
          </a:prstGeom>
          <a:noFill/>
          <a:ln w="15875">
            <a:solidFill>
              <a:srgbClr val="EF9F27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781544" y="2514600"/>
            <a:ext cx="0" cy="365760"/>
          </a:xfrm>
          <a:prstGeom prst="line">
            <a:avLst/>
          </a:prstGeom>
          <a:noFill/>
          <a:ln w="15875">
            <a:solidFill>
              <a:srgbClr val="EF9F27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cycle times shown are per-station totals from the time study; the crane is a shared resource across stations.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7317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Analysis: Bottleneck Identified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4754880"/>
          </a:xfrm>
          <a:prstGeom prst="roundRect">
            <a:avLst>
              <a:gd name="adj" fmla="val 2326"/>
            </a:avLst>
          </a:prstGeom>
          <a:solidFill>
            <a:srgbClr val="0E28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HIGHEST-CYCLE ELEMENT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5:24.5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average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3429000"/>
            <a:ext cx="2651760" cy="0"/>
          </a:xfrm>
          <a:prstGeom prst="line">
            <a:avLst/>
          </a:prstGeom>
          <a:noFill/>
          <a:ln w="12700">
            <a:solidFill>
              <a:srgbClr val="3C6E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“Mount wheel to axle”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seconds longer than the next-slowest of all 20 recorded elements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65960" y="4846320"/>
            <a:ext cx="822960" cy="82296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12" name="Image 0" descr="/home/claude/pptx_task/assets/icon_cr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4715" y="4945075"/>
            <a:ext cx="625450" cy="6254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5715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shared crane availability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00600" y="1371600"/>
            <a:ext cx="640080" cy="64008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15" name="Image 1" descr="/home/claude/pptx_task/assets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410" y="1448410"/>
            <a:ext cx="486461" cy="48646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3560" y="13533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time sink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623560" y="169164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of 20 timed elements in the assembly sequence, directly setting the pace of the whole line.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00600" y="2788920"/>
            <a:ext cx="640080" cy="64008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19" name="Image 2" descr="/home/claude/pptx_task/assets/icon_cra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410" y="2865730"/>
            <a:ext cx="486461" cy="4864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23560" y="27706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Resource-constrained, not skill-constrained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623560" y="310896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depends on when the shared crane is free, not on operator technique — explaining the wide time spread.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800600" y="4206240"/>
            <a:ext cx="640080" cy="64008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23" name="Image 3" descr="/home/claude/pptx_task/assets/icon_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410" y="4283050"/>
            <a:ext cx="486461" cy="4864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41879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queuing effect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623560" y="4526280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step (locking, alignment, testing, transport) waits on this station, amplifying any delay here.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7317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THE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Reference: Types of Plant Layouts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54480"/>
            <a:ext cx="685800" cy="685800"/>
          </a:xfrm>
          <a:prstGeom prst="ellipse">
            <a:avLst/>
          </a:prstGeom>
          <a:solidFill>
            <a:srgbClr val="196B24"/>
          </a:solidFill>
          <a:ln/>
        </p:spPr>
      </p:sp>
      <p:pic>
        <p:nvPicPr>
          <p:cNvPr id="6" name="Image 0" descr="/home/claude/pptx_task/assets/icon_hard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63677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727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layout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stays in one place — too large or heavy to move (e.g. ships, buildings). Resources travel to the product.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2801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554480"/>
            <a:ext cx="685800" cy="68580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11" name="Image 1" descr="/home/claude/pptx_task/assets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636776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5727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layout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3317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resources grouped by function. Suits job shops making varied products in small volumes.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977640"/>
            <a:ext cx="685800" cy="685800"/>
          </a:xfrm>
          <a:prstGeom prst="ellipse">
            <a:avLst/>
          </a:prstGeom>
          <a:solidFill>
            <a:srgbClr val="E97132"/>
          </a:solidFill>
          <a:ln/>
        </p:spPr>
      </p:sp>
      <p:pic>
        <p:nvPicPr>
          <p:cNvPr id="16" name="Image 2" descr="/home/claude/pptx_task/assets/icon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059936"/>
            <a:ext cx="521208" cy="5212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9959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layout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8680" y="4754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arranged in the exact sequence of manufacture. Ideal for mass-producing one product — our current model.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703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2F2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977640"/>
            <a:ext cx="685800" cy="685800"/>
          </a:xfrm>
          <a:prstGeom prst="ellipse">
            <a:avLst/>
          </a:prstGeom>
          <a:solidFill>
            <a:srgbClr val="A02B93"/>
          </a:solidFill>
          <a:ln/>
        </p:spPr>
      </p:sp>
      <p:pic>
        <p:nvPicPr>
          <p:cNvPr id="21" name="Image 3" descr="/home/claude/pptx_task/assets/icon_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059936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99592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layout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47548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Blends process and product layouts — small teams (cells) produce a range of related products.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7317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THE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Proposed Layout Change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of the redesign is measured against these four goals.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6F1F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7" name="Image 0" descr="/home/claude/pptx_task/assets/icon_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48256"/>
            <a:ext cx="521208" cy="5212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984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production time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wheel-mounting cycle time by removing crane wait and manual alignment delay.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6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1965960"/>
            <a:ext cx="685800" cy="68580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12" name="Image 1" descr="/home/claude/pptx_task/assets/icon_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2048256"/>
            <a:ext cx="521208" cy="5212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1984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waste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74320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rework from misalignment and cut wasted motion between storage, staging, and mounting.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6F1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389120"/>
            <a:ext cx="685800" cy="68580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17" name="Image 2" descr="/home/claude/pptx_task/assets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471416"/>
            <a:ext cx="521208" cy="5212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4074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worker safety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68680" y="516636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manual handling of the heaviest component and reduce time spent under a suspended load.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17920" y="41148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E6F1FB"/>
          </a:solidFill>
          <a:ln/>
        </p:spPr>
      </p:sp>
      <p:sp>
        <p:nvSpPr>
          <p:cNvPr id="21" name="Shape 16"/>
          <p:cNvSpPr/>
          <p:nvPr/>
        </p:nvSpPr>
        <p:spPr>
          <a:xfrm>
            <a:off x="6492240" y="4389120"/>
            <a:ext cx="685800" cy="68580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22" name="Image 3" descr="/home/claude/pptx_task/assets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471416"/>
            <a:ext cx="521208" cy="5212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4074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production capacity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37960" y="516636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overall line throughput by relieving the single slowest, most resource-constrained station.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7317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THE NEW LAYOUT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Layout: Dedicated Lifting Cell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2 (wheel mounting) gains its own hoist and a pre-staging zone — removing shared-crane wait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1755648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4436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58568" y="3429000"/>
            <a:ext cx="128016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86584" y="2834640"/>
            <a:ext cx="1755648" cy="1188720"/>
          </a:xfrm>
          <a:prstGeom prst="roundRect">
            <a:avLst>
              <a:gd name="adj" fmla="val 6154"/>
            </a:avLst>
          </a:prstGeom>
          <a:solidFill>
            <a:srgbClr val="E6F1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294436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86584" y="349300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61:15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42232" y="3429000"/>
            <a:ext cx="128016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70248" y="2834640"/>
            <a:ext cx="1755648" cy="1188720"/>
          </a:xfrm>
          <a:prstGeom prst="roundRect">
            <a:avLst>
              <a:gd name="adj" fmla="val 6154"/>
            </a:avLst>
          </a:prstGeom>
          <a:solidFill>
            <a:srgbClr val="EAF3DE"/>
          </a:solidFill>
          <a:ln w="19050">
            <a:solidFill>
              <a:srgbClr val="6399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294436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70248" y="349300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6D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0:30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25896" y="3429000"/>
            <a:ext cx="128016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53912" y="2834640"/>
            <a:ext cx="1755648" cy="1188720"/>
          </a:xfrm>
          <a:prstGeom prst="roundRect">
            <a:avLst>
              <a:gd name="adj" fmla="val 6154"/>
            </a:avLst>
          </a:prstGeom>
          <a:solidFill>
            <a:srgbClr val="EAF3DE"/>
          </a:solidFill>
          <a:ln w="19050">
            <a:solidFill>
              <a:srgbClr val="6399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94436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(dedicated hoist)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53912" y="349300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6D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61:30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09560" y="3429000"/>
            <a:ext cx="128016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37576" y="2834640"/>
            <a:ext cx="1755648" cy="1188720"/>
          </a:xfrm>
          <a:prstGeom prst="roundRect">
            <a:avLst>
              <a:gd name="adj" fmla="val 6154"/>
            </a:avLst>
          </a:prstGeom>
          <a:solidFill>
            <a:srgbClr val="E6F1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3296" y="294436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37576" y="349300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61:46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793224" y="3429000"/>
            <a:ext cx="128016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21240" y="2834640"/>
            <a:ext cx="1755648" cy="1188720"/>
          </a:xfrm>
          <a:prstGeom prst="roundRect">
            <a:avLst>
              <a:gd name="adj" fmla="val 6154"/>
            </a:avLst>
          </a:prstGeom>
          <a:solidFill>
            <a:srgbClr val="E6F1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2944368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21240" y="3493008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60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62:10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828032" y="1874520"/>
            <a:ext cx="640080" cy="640080"/>
          </a:xfrm>
          <a:prstGeom prst="ellipse">
            <a:avLst/>
          </a:prstGeom>
          <a:solidFill>
            <a:srgbClr val="639922"/>
          </a:solidFill>
          <a:ln/>
        </p:spPr>
      </p:sp>
      <p:pic>
        <p:nvPicPr>
          <p:cNvPr id="28" name="Image 0" descr="/home/claude/pptx_task/assets/icon_cr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4842" y="1951330"/>
            <a:ext cx="486461" cy="48646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140050" y="2560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hoist — no shared-crane wait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0E2841"/>
          </a:solidFill>
          <a:ln/>
        </p:spPr>
      </p:sp>
      <p:sp>
        <p:nvSpPr>
          <p:cNvPr id="31" name="Text 28"/>
          <p:cNvSpPr/>
          <p:nvPr/>
        </p:nvSpPr>
        <p:spPr>
          <a:xfrm>
            <a:off x="822960" y="4480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and why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22960" y="4800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pre-stage cell aligns the axle on a fixed jig before the lift begins, so the hoist is only used for the final placement.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hoist removes the wait for the shared crane, the main source of the 23-second time spread observed in the study.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pins at the mounting point reduce fine-alignment time and rework from misalignment.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17317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JUSTIFYING THE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Justifying the Change: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00200"/>
            <a:ext cx="594360" cy="59436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6" name="Image 0" descr="/home/claude/pptx_task/assets/icon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16715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hoist / lifting fixture procurement and installation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 jig and guide-pin fixture fabrication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line downtime during changeover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 on the new mounting cell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5074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— to be finalized with vendor quotes and the finance team.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468112" cy="4206240"/>
          </a:xfrm>
          <a:prstGeom prst="roundRect">
            <a:avLst>
              <a:gd name="adj" fmla="val 2174"/>
            </a:avLst>
          </a:prstGeom>
          <a:solidFill>
            <a:srgbClr val="0E2841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1600200"/>
            <a:ext cx="594360" cy="594360"/>
          </a:xfrm>
          <a:prstGeom prst="ellipse">
            <a:avLst/>
          </a:prstGeom>
          <a:solidFill>
            <a:srgbClr val="E97132"/>
          </a:solidFill>
          <a:ln/>
        </p:spPr>
      </p:sp>
      <p:pic>
        <p:nvPicPr>
          <p:cNvPr id="12" name="Image 1" descr="/home/claude/pptx_task/assets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167152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645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savings &amp; ROI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286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DCA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~60–90 sec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6492240" y="2926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cut in mounting-station cycle time per unit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92240" y="3520440"/>
            <a:ext cx="4480560" cy="0"/>
          </a:xfrm>
          <a:prstGeom prst="line">
            <a:avLst/>
          </a:prstGeom>
          <a:noFill/>
          <a:ln w="12700">
            <a:solidFill>
              <a:srgbClr val="3C6E9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92240" y="37033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line throughput from relieving the single largest bottleneck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rework cycles from misalignment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 of downtime from crane contention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492240" y="50749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to be modeled against actual throughput gain once the pilot cell is measured.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117317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JUSTIFYING THE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Minimizing Disruption to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6F1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dedicated hoist and jig at Assembly 2 only, during a scheduled maintenance window.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69080" y="2423160"/>
            <a:ext cx="22860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6F1FB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600200"/>
            <a:ext cx="502920" cy="502920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66360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240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new cell alongside the existing process; compare cycle times before full changeover.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18120" y="2423160"/>
            <a:ext cx="228600" cy="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E6F1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1600200"/>
            <a:ext cx="502920" cy="502920"/>
          </a:xfrm>
          <a:prstGeom prst="ellipse">
            <a:avLst/>
          </a:prstGeom>
          <a:solidFill>
            <a:srgbClr val="156082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15400" y="16459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rollout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22402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station over completely once results are validated; retire the old shared-crane routing.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E97132"/>
          </a:solidFill>
          <a:ln/>
        </p:spPr>
      </p:sp>
      <p:pic>
        <p:nvPicPr>
          <p:cNvPr id="23" name="Image 0" descr="/home/claude/pptx_task/assets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4089197"/>
            <a:ext cx="416966" cy="41696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0876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Risk-mitigation strategies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68680" y="45262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original crane routing available as a fallback during the parallel-run phase.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installation work in existing maintenance windows to avoid unplanned downtime.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two operators per shift on the new cell before go-live to avoid single-person dependency.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7317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5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JUSTIFYING THE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Highlighting the Benefits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E6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600200"/>
            <a:ext cx="594360" cy="59436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6" name="Image 0" descr="/home/claude/pptx_task/assets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16715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improvements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2860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60–90 second cut in the mounting station's cycle time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variability — targets the 23-second spread seen across trials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achievable throughput for the whole assembly line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rework cycles from misaligned mounting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68112" cy="4480560"/>
          </a:xfrm>
          <a:prstGeom prst="roundRect">
            <a:avLst>
              <a:gd name="adj" fmla="val 2041"/>
            </a:avLst>
          </a:prstGeom>
          <a:solidFill>
            <a:srgbClr val="EAF3DE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600200"/>
            <a:ext cx="594360" cy="594360"/>
          </a:xfrm>
          <a:prstGeom prst="ellipse">
            <a:avLst/>
          </a:prstGeom>
          <a:solidFill>
            <a:srgbClr val="639922"/>
          </a:solidFill>
          <a:ln/>
        </p:spPr>
      </p:sp>
      <p:pic>
        <p:nvPicPr>
          <p:cNvPr id="11" name="Image 1" descr="/home/claude/pptx_task/assets/icon_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167152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45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benefits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2860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spent manually handling the heaviest component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operator exposure to a suspended load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handoffs into downstream stations — less waiting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consistent, less stressful task for the mounting-cell operator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7317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THE PROPOSAL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6" name="Image 0" descr="/home/claude/pptx_task/assets/icon_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1967789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585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proposal document with justification, cost breakdown, and phased implementation plan, including diagrams of the current and proposed layouts.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777240" cy="777240"/>
          </a:xfrm>
          <a:prstGeom prst="ellipse">
            <a:avLst/>
          </a:prstGeom>
          <a:solidFill>
            <a:srgbClr val="156082"/>
          </a:solidFill>
          <a:ln/>
        </p:spPr>
      </p:sp>
      <p:pic>
        <p:nvPicPr>
          <p:cNvPr id="10" name="Image 1" descr="/home/claude/pptx_task/assets/icon_pres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9" y="3476549"/>
            <a:ext cx="590702" cy="5907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383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76732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for the Operations Committee covering the bottleneck, the redesign, and expected impact — with data-backed answers ready for likely questions.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12700">
            <a:solidFill>
              <a:srgbClr val="3C6E9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and discussion welcome.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17317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2026-08-01T09:43:04Z</dcterms:created>
  <dcterms:modified xsi:type="dcterms:W3CDTF">2026-08-01T09:43:04Z</dcterms:modified>
</cp:coreProperties>
</file>